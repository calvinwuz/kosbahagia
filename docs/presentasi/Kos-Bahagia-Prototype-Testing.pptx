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a93b9ef9-821a-480f-3f30-376507859ad3}">
          <p14:sldIdLst>
            <p14:sldId id="256"/>
            <p14:sldId id="257"/>
            <p14:sldId id="258"/>
          </p14:sldIdLst>
        </p14:section>
        <p14:section name="Demo produk" id="{dc48d8b1-babc-9dd0-41e3-8bd5ee2040ad}">
          <p14:sldIdLst>
            <p14:sldId id="259"/>
            <p14:sldId id="260"/>
          </p14:sldIdLst>
        </p14:section>
        <p14:section name="Prototype testing" id="{d0302e13-c92f-46f0-ac26-8e1bb02e9316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Feedback Capture Grid" id="{11710700-9052-d7cc-c123-61b6fa2eb79b}">
          <p14:sldIdLst>
            <p14:sldId id="268"/>
            <p14:sldId id="269"/>
            <p14:sldId id="270"/>
          </p14:sldIdLst>
        </p14:section>
        <p14:section name="Iterasi desain" id="{8c91a960-ed8c-37fc-a871-1871861cc36f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Penutup" id="{b565ce24-3edc-2350-0a8c-209c232762f2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02E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6202E"/>
                </a:solidFill>
                <a:latin typeface="+mj-lt"/>
              </a:rPr>
              <a:t>Usia (tahun)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</c:v>
                </c:pt>
              </c:strCache>
            </c:strRef>
          </c:tx>
          <c:spPr>
            <a:solidFill>
              <a:srgbClr val="1D6F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 18</c:v>
                  </c:pt>
                  <c:pt idx="1">
                    <c:v>18–24</c:v>
                  </c:pt>
                  <c:pt idx="2">
                    <c:v>25–30</c:v>
                  </c:pt>
                  <c:pt idx="3">
                    <c:v>&gt; 30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44</c:v>
                </c:pt>
                <c:pt idx="2">
                  <c:v>11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0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02E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6202E"/>
                </a:solidFill>
                <a:latin typeface="+mj-lt"/>
              </a:rPr>
              <a:t>Pengalaman mencari kos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Pengalaman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7A1A"/>
              </a:solidFill>
              <a:effectLst/>
            </c:spPr>
          </c:dPt>
          <c:dPt>
            <c:idx val="1"/>
            <c:bubble3D val="0"/>
            <c:spPr>
              <a:solidFill>
                <a:srgbClr val="1D6FE0"/>
              </a:solidFill>
              <a:effectLst/>
            </c:spPr>
          </c:dPt>
          <c:dPt>
            <c:idx val="2"/>
            <c:bubble3D val="0"/>
            <c:spPr>
              <a:solidFill>
                <a:srgbClr val="C9D3D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Sedang aktif mencari</c:v>
                </c:pt>
                <c:pt idx="1">
                  <c:v>Pernah mencari</c:v>
                </c:pt>
                <c:pt idx="2">
                  <c:v>Belum pernah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19</c:v>
                </c:pt>
                <c:pt idx="1">
                  <c:v>37</c:v>
                </c:pt>
                <c:pt idx="2">
                  <c:v>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0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Sangat tidak setuju</c:v>
                </c:pt>
              </c:strCache>
            </c:strRef>
          </c:tx>
          <c:spPr>
            <a:solidFill>
              <a:srgbClr val="E5737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02E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Bisa dipakai tanpa bantuan</c:v>
                  </c:pt>
                  <c:pt idx="1">
                    <c:v>Informasi detail jelas</c:v>
                  </c:pt>
                  <c:pt idx="2">
                    <c:v>Tampilan menarik dan rapi</c:v>
                  </c:pt>
                  <c:pt idx="3">
                    <c:v>Membantu kebutuhan (wajib 3)</c:v>
                  </c:pt>
                  <c:pt idx="4">
                    <c:v>Mudah digunakan (wajib 1)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6.3</c:v>
                </c:pt>
                <c:pt idx="1">
                  <c:v>11.1</c:v>
                </c:pt>
                <c:pt idx="2">
                  <c:v>6.3</c:v>
                </c:pt>
                <c:pt idx="3">
                  <c:v>11.1</c:v>
                </c:pt>
                <c:pt idx="4">
                  <c:v>11.1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rgbClr val="F8C4C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02E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Bisa dipakai tanpa bantuan</c:v>
                  </c:pt>
                  <c:pt idx="1">
                    <c:v>Informasi detail jelas</c:v>
                  </c:pt>
                  <c:pt idx="2">
                    <c:v>Tampilan menarik dan rapi</c:v>
                  </c:pt>
                  <c:pt idx="3">
                    <c:v>Membantu kebutuhan (wajib 3)</c:v>
                  </c:pt>
                  <c:pt idx="4">
                    <c:v>Mudah digunakan (wajib 1)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12.7</c:v>
                </c:pt>
                <c:pt idx="1">
                  <c:v>11.1</c:v>
                </c:pt>
                <c:pt idx="2">
                  <c:v>15.9</c:v>
                </c:pt>
                <c:pt idx="3">
                  <c:v>12.7</c:v>
                </c:pt>
                <c:pt idx="4">
                  <c:v>14.3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rgbClr val="D5DEE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02E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Bisa dipakai tanpa bantuan</c:v>
                  </c:pt>
                  <c:pt idx="1">
                    <c:v>Informasi detail jelas</c:v>
                  </c:pt>
                  <c:pt idx="2">
                    <c:v>Tampilan menarik dan rapi</c:v>
                  </c:pt>
                  <c:pt idx="3">
                    <c:v>Membantu kebutuhan (wajib 3)</c:v>
                  </c:pt>
                  <c:pt idx="4">
                    <c:v>Mudah digunakan (wajib 1)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31.7</c:v>
                </c:pt>
                <c:pt idx="1">
                  <c:v>25.4</c:v>
                </c:pt>
                <c:pt idx="2">
                  <c:v>27</c:v>
                </c:pt>
                <c:pt idx="3">
                  <c:v>23.8</c:v>
                </c:pt>
                <c:pt idx="4">
                  <c:v>20.6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rgbClr val="A9C8F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02E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Bisa dipakai tanpa bantuan</c:v>
                  </c:pt>
                  <c:pt idx="1">
                    <c:v>Informasi detail jelas</c:v>
                  </c:pt>
                  <c:pt idx="2">
                    <c:v>Tampilan menarik dan rapi</c:v>
                  </c:pt>
                  <c:pt idx="3">
                    <c:v>Membantu kebutuhan (wajib 3)</c:v>
                  </c:pt>
                  <c:pt idx="4">
                    <c:v>Mudah digunakan (wajib 1)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25.4</c:v>
                </c:pt>
                <c:pt idx="1">
                  <c:v>27</c:v>
                </c:pt>
                <c:pt idx="2">
                  <c:v>25.4</c:v>
                </c:pt>
                <c:pt idx="3">
                  <c:v>20.6</c:v>
                </c:pt>
                <c:pt idx="4">
                  <c:v>30.2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5 Sangat setuju</c:v>
                </c:pt>
              </c:strCache>
            </c:strRef>
          </c:tx>
          <c:spPr>
            <a:solidFill>
              <a:srgbClr val="5B9BE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02E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Bisa dipakai tanpa bantuan</c:v>
                  </c:pt>
                  <c:pt idx="1">
                    <c:v>Informasi detail jelas</c:v>
                  </c:pt>
                  <c:pt idx="2">
                    <c:v>Tampilan menarik dan rapi</c:v>
                  </c:pt>
                  <c:pt idx="3">
                    <c:v>Membantu kebutuhan (wajib 3)</c:v>
                  </c:pt>
                  <c:pt idx="4">
                    <c:v>Mudah digunakan (wajib 1)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23.8</c:v>
                </c:pt>
                <c:pt idx="1">
                  <c:v>25.4</c:v>
                </c:pt>
                <c:pt idx="2">
                  <c:v>25.4</c:v>
                </c:pt>
                <c:pt idx="3">
                  <c:v>31.7</c:v>
                </c:pt>
                <c:pt idx="4">
                  <c:v>23.8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6202E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0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0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Rata-rata</c:v>
                </c:pt>
              </c:strCache>
            </c:strRef>
          </c:tx>
          <c:spPr>
            <a:solidFill>
              <a:srgbClr val="1D6FE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Belum pernah mencari (n=7)</c:v>
                  </c:pt>
                  <c:pt idx="1">
                    <c:v>Pernah mencari (n=37)</c:v>
                  </c:pt>
                  <c:pt idx="2">
                    <c:v>Sedang aktif mencari (n=19)</c:v>
                  </c:pt>
                  <c:pt idx="3">
                    <c:v>Bekerja / wirausaha (n=28)</c:v>
                  </c:pt>
                  <c:pt idx="4">
                    <c:v>Mahasiswa saja (n=35)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2.77</c:v>
                </c:pt>
                <c:pt idx="1">
                  <c:v>3.54</c:v>
                </c:pt>
                <c:pt idx="2">
                  <c:v>3.56</c:v>
                </c:pt>
                <c:pt idx="3">
                  <c:v>2.91</c:v>
                </c:pt>
                <c:pt idx="4">
                  <c:v>3.9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6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0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b"/>
        <c:majorGridlines>
          <c:spPr>
            <a:ln w="9525" cap="flat">
              <a:solidFill>
                <a:srgbClr val="E5EB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</c:v>
                </c:pt>
              </c:strCache>
            </c:strRef>
          </c:tx>
          <c:spPr>
            <a:solidFill>
              <a:srgbClr val="1D6F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Menu navigasi / loading</c:v>
                  </c:pt>
                  <c:pt idx="1">
                    <c:v>Data contoh vs data asli</c:v>
                  </c:pt>
                  <c:pt idx="2">
                    <c:v>Label tombol perlu dibaca dulu</c:v>
                  </c:pt>
                  <c:pt idx="3">
                    <c:v>Perlu panduan saat pertama</c:v>
                  </c:pt>
                  <c:pt idx="4">
                    <c:v>Alur simpan dan bandingkan</c:v>
                  </c:pt>
                  <c:pt idx="5">
                    <c:v>Informasi terlalu padat</c:v>
                  </c:pt>
                  <c:pt idx="6">
                    <c:v>Alur filter dan pencarian</c:v>
                  </c:pt>
                  <c:pt idx="7">
                    <c:v>Rincian biaya, fasilitas, jarak dibaca ulang</c:v>
                  </c:pt>
                  <c:pt idx="8">
                    <c:v>Sulit menilai kecocokan dari info ringkas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0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</c:v>
                </c:pt>
              </c:strCache>
            </c:strRef>
          </c:tx>
          <c:spPr>
            <a:solidFill>
              <a:srgbClr val="FF7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Status kamar dan pembaruan</c:v>
                  </c:pt>
                  <c:pt idx="1">
                    <c:v>Harga dan lokasi lebih menonjol</c:v>
                  </c:pt>
                  <c:pt idx="2">
                    <c:v>Bantuan saat mencari</c:v>
                  </c:pt>
                  <c:pt idx="3">
                    <c:v>Info lingkungan sekitar</c:v>
                  </c:pt>
                  <c:pt idx="4">
                    <c:v>Fitur baru (review, kontak, dll.)</c:v>
                  </c:pt>
                  <c:pt idx="5">
                    <c:v>Simpan/banding lebih mudah dikenali</c:v>
                  </c:pt>
                  <c:pt idx="6">
                    <c:v>Tata letak lebih lega dan rapi</c:v>
                  </c:pt>
                  <c:pt idx="7">
                    <c:v>Jelaskan skor, estimasi biaya, jarak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5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0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</c:v>
                </c:pt>
              </c:strCache>
            </c:strRef>
          </c:tx>
          <c:spPr>
            <a:solidFill>
              <a:srgbClr val="0E9F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Mudah digunakan</c:v>
                  </c:pt>
                  <c:pt idx="1">
                    <c:v>Pencarian dan filter</c:v>
                  </c:pt>
                  <c:pt idx="2">
                    <c:v>Semua info dalam satu tempat</c:v>
                  </c:pt>
                  <c:pt idx="3">
                    <c:v>Total biaya dan rinciannya</c:v>
                  </c:pt>
                  <c:pt idx="4">
                    <c:v>Informasi lengkap</c:v>
                  </c:pt>
                  <c:pt idx="5">
                    <c:v>Desain simpel dan rapi</c:v>
                  </c:pt>
                  <c:pt idx="6">
                    <c:v>Kartu kos (foto + ringkasan)</c:v>
                  </c:pt>
                  <c:pt idx="7">
                    <c:v>Simpan dan bandingkan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8</c:v>
                </c:pt>
                <c:pt idx="7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0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Perkenalkan produk: Kos Bahagia, website cari kos yang setiap listing-nya disurvei. Presentasi ini berisi hasil uji prototipe, feedback grid, dan iterasi desain.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Masalah utama: harga yang diiklankan biasanya sewa saja. Kos Bahagia menampilkan total, skor dari survei, dan catatan surveyor.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Fitur utama versi 2. Data di prototipe adalah data contoh, dan situs menandainya dengan jelas.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Naskah lengkap demo ada di docs/presentasi-demo.md. Tunjukkan tombol Chat pemilik: di prototipe yang muncul adalah contoh pesan.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instrumen dan bagaimana empat pertanyaan wajib dipetakan ke kuesioner.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Responden didominasi mahasiswa 18–24 tahun yang pernah atau sedang mencari kos, sesuai target pengguna.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Semua pernyataan sedikit di atas netral. Nilai tertinggi: membantu kebutuhan (32% sangat setuju). 'Tanpa bantuan' punya porsi netral terbesar.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Temuan menarik untuk diskusi: perbedaan penilaian mahasiswa dan pekerja.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dari 63 responden menyebut kebingungan. Tema teratas: menilai kecocokan dari info ringkas dan rincian biaya/fasilitas.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penting: sebagian permintaan (saran filter, penjelasan skor, status kamar) sebenarnya sudah ada. Masalahnya visibilitas.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 versi 1 dari audit. Masalah terbesar: kepercayaan pada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Masalah konsistensi data dari versi 1 tidak muncul lagi. Yang muncul sekarang: kejelasan dan kepadatan tampilan.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Prioritas berdasarkan dampak ke keputusan pengguna dan seberapa sering terjadi.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paling jelas dari iterasi: hero sekarang konsisten dengan data listing.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tiga perubahan yang paling terasa di HP.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sebelum vs sesudah dan cara pengujiannya.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Urutan berdasarkan jumlah responden yang menyebut masalahnya.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tiga kesimpulan, lalu buka sesi tanya jawab.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1256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74980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KSI">
    <p:bg>
      <p:bgPr>
        <a:solidFill>
          <a:srgbClr val="1256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8346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9144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 Bahagia | Prototype Testing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NUTUP">
    <p:bg>
      <p:bgPr>
        <a:solidFill>
          <a:srgbClr val="16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 Bahagia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Testing, Feedback Grid, dan Iterasi Desain</a:t>
            </a:r>
            <a:endParaRPr lang="en-US" sz="2200" dirty="0"/>
          </a:p>
        </p:txBody>
      </p:sp>
      <p:sp>
        <p:nvSpPr>
          <p:cNvPr id="4" name="alas-logo"/>
          <p:cNvSpPr/>
          <p:nvPr/>
        </p:nvSpPr>
        <p:spPr>
          <a:xfrm>
            <a:off x="731520" y="914400"/>
            <a:ext cx="100584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logo" descr="/Users/calvinn/KosBahagia/docs/logo/kos-bahagia-mark-1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024128"/>
            <a:ext cx="786384" cy="7863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kos-bahagia-umber.vercel.app   |   Oktober 2026</a:t>
            </a:r>
            <a:endParaRPr lang="en-US" sz="1400" dirty="0"/>
          </a:p>
        </p:txBody>
      </p:sp>
      <p:pic>
        <p:nvPicPr>
          <p:cNvPr id="7" name="tangkapan-judul" descr="/Users/calvinn/KosBahagia/docs/tangkapan/audit/05-ringkasan-kamar-penuh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640080"/>
            <a:ext cx="2606040" cy="5641848"/>
          </a:xfrm>
          <a:prstGeom prst="rect">
            <a:avLst/>
          </a:prstGeom>
          <a:effectLst>
            <a:outerShdw sx="100000" sy="100000" kx="0" ky="0" algn="bl" rotWithShape="0" blurRad="177800" dist="762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Masalah: harga kos yang diiklankan bukan yang dibayar</a:t>
            </a:r>
            <a:endParaRPr lang="en-US" sz="3000" dirty="0"/>
          </a:p>
        </p:txBody>
      </p:sp>
      <p:sp>
        <p:nvSpPr>
          <p:cNvPr id="3" name="kartu-contoh-harga"/>
          <p:cNvSpPr/>
          <p:nvPr/>
        </p:nvSpPr>
        <p:spPr>
          <a:xfrm>
            <a:off x="548640" y="1417320"/>
            <a:ext cx="4846320" cy="4480560"/>
          </a:xfrm>
          <a:prstGeom prst="roundRect">
            <a:avLst>
              <a:gd name="adj" fmla="val 2449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hitungan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48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trike="sngStrike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Rp1.200.000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80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sewa yang diiklankan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2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Rp1.550.000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benar-benar dibayar tiap bulan: sewa + listrik + air + sampah + iuran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hal yang tidak ditampilkan situs kos lain:</a:t>
            </a:r>
            <a:endParaRPr lang="en-US" sz="1600" dirty="0"/>
          </a:p>
        </p:txBody>
      </p:sp>
      <p:sp>
        <p:nvSpPr>
          <p:cNvPr id="10" name="ikon-latar-LuReceipt"/>
          <p:cNvSpPr/>
          <p:nvPr/>
        </p:nvSpPr>
        <p:spPr>
          <a:xfrm>
            <a:off x="5943600" y="2057400"/>
            <a:ext cx="685800" cy="685800"/>
          </a:xfrm>
          <a:prstGeom prst="ellipse">
            <a:avLst/>
          </a:prstGeom>
          <a:solidFill>
            <a:srgbClr val="DCEAFD"/>
          </a:solidFill>
          <a:ln w="12700">
            <a:solidFill>
              <a:srgbClr val="DCEAFD"/>
            </a:solidFill>
            <a:prstDash val="solid"/>
          </a:ln>
        </p:spPr>
      </p:sp>
      <p:pic>
        <p:nvPicPr>
          <p:cNvPr id="11" name="ikon-LuReceip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4476" y="2208276"/>
            <a:ext cx="384048" cy="38404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858000" y="2075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biaya sebenarnya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24688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besar adalah total per bulan, bukan sewa saja.</a:t>
            </a:r>
            <a:endParaRPr lang="en-US" sz="1400" dirty="0"/>
          </a:p>
        </p:txBody>
      </p:sp>
      <p:sp>
        <p:nvSpPr>
          <p:cNvPr id="14" name="ikon-latar-LuSparkles"/>
          <p:cNvSpPr/>
          <p:nvPr/>
        </p:nvSpPr>
        <p:spPr>
          <a:xfrm>
            <a:off x="5943600" y="3337560"/>
            <a:ext cx="685800" cy="685800"/>
          </a:xfrm>
          <a:prstGeom prst="ellipse">
            <a:avLst/>
          </a:prstGeom>
          <a:solidFill>
            <a:srgbClr val="DCEAFD"/>
          </a:solidFill>
          <a:ln w="12700">
            <a:solidFill>
              <a:srgbClr val="DCEAFD"/>
            </a:solidFill>
            <a:prstDash val="solid"/>
          </a:ln>
        </p:spPr>
      </p:sp>
      <p:pic>
        <p:nvPicPr>
          <p:cNvPr id="15" name="ikon-LuSparkle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348843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858000" y="33558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kebersihan dan kedap suara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3749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Diukur di lokasi dengan rubrik tetap dan tes desibel.</a:t>
            </a:r>
            <a:endParaRPr lang="en-US" sz="1400" dirty="0"/>
          </a:p>
        </p:txBody>
      </p:sp>
      <p:sp>
        <p:nvSpPr>
          <p:cNvPr id="18" name="ikon-latar-LuNotebookPen"/>
          <p:cNvSpPr/>
          <p:nvPr/>
        </p:nvSpPr>
        <p:spPr>
          <a:xfrm>
            <a:off x="5943600" y="4617720"/>
            <a:ext cx="685800" cy="685800"/>
          </a:xfrm>
          <a:prstGeom prst="ellipse">
            <a:avLst/>
          </a:prstGeom>
          <a:solidFill>
            <a:srgbClr val="DCEAFD"/>
          </a:solidFill>
          <a:ln w="12700">
            <a:solidFill>
              <a:srgbClr val="DCEAFD"/>
            </a:solidFill>
            <a:prstDash val="solid"/>
          </a:ln>
        </p:spPr>
      </p:sp>
      <p:pic>
        <p:nvPicPr>
          <p:cNvPr id="19" name="ikon-LuNotebookP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6" y="476859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858000" y="4636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surveyor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858000" y="5029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bagus, hal yang perlu diketahui, dan peringatan keselamatan.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Produk: Kos Bahagia versi 2</a:t>
            </a:r>
            <a:endParaRPr lang="en-US" sz="3000" dirty="0"/>
          </a:p>
        </p:txBody>
      </p:sp>
      <p:pic>
        <p:nvPicPr>
          <p:cNvPr id="3" name="tangkapan-beranda" descr="/Users/calvinn/KosBahagia/docs/tangkapan/audit/01-hero-data-as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25880"/>
            <a:ext cx="6675120" cy="44805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256B8">
                <a:alpha val="18000"/>
              </a:srgbClr>
            </a:outerShdw>
          </a:effectLst>
        </p:spPr>
      </p:pic>
      <p:sp>
        <p:nvSpPr>
          <p:cNvPr id="4" name="ikon-latar-LuSearch"/>
          <p:cNvSpPr/>
          <p:nvPr/>
        </p:nvSpPr>
        <p:spPr>
          <a:xfrm>
            <a:off x="548640" y="1417320"/>
            <a:ext cx="566928" cy="566928"/>
          </a:xfrm>
          <a:prstGeom prst="ellipse">
            <a:avLst/>
          </a:prstGeom>
          <a:solidFill>
            <a:srgbClr val="DCEAFD"/>
          </a:solidFill>
          <a:ln w="12700">
            <a:solidFill>
              <a:srgbClr val="DCEAFD"/>
            </a:solidFill>
            <a:prstDash val="solid"/>
          </a:ln>
        </p:spPr>
      </p:sp>
      <p:pic>
        <p:nvPicPr>
          <p:cNvPr id="5" name="ikon-LuSearc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64" y="1542044"/>
            <a:ext cx="317480" cy="317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13990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 dekat kampus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1325880" y="17647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harga total, kebersihan, kedap suara, fasilitas, aturan</a:t>
            </a:r>
            <a:endParaRPr lang="en-US" sz="1300" dirty="0"/>
          </a:p>
        </p:txBody>
      </p:sp>
      <p:sp>
        <p:nvSpPr>
          <p:cNvPr id="8" name="ikon-latar-LuLayoutList"/>
          <p:cNvSpPr/>
          <p:nvPr/>
        </p:nvSpPr>
        <p:spPr>
          <a:xfrm>
            <a:off x="548640" y="2514600"/>
            <a:ext cx="566928" cy="566928"/>
          </a:xfrm>
          <a:prstGeom prst="ellipse">
            <a:avLst/>
          </a:prstGeom>
          <a:solidFill>
            <a:srgbClr val="DCEAFD"/>
          </a:solidFill>
          <a:ln w="12700">
            <a:solidFill>
              <a:srgbClr val="DCEAFD"/>
            </a:solidFill>
            <a:prstDash val="solid"/>
          </a:ln>
        </p:spPr>
      </p:sp>
      <p:pic>
        <p:nvPicPr>
          <p:cNvPr id="9" name="ikon-LuLayoutLis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2639324"/>
            <a:ext cx="317480" cy="3174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24963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yang jujur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1325880" y="28620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Ringkasan, rincian biaya, uang masuk, status per tipe kamar</a:t>
            </a:r>
            <a:endParaRPr lang="en-US" sz="1300" dirty="0"/>
          </a:p>
        </p:txBody>
      </p:sp>
      <p:sp>
        <p:nvSpPr>
          <p:cNvPr id="12" name="ikon-latar-LuArrowRightLeft"/>
          <p:cNvSpPr/>
          <p:nvPr/>
        </p:nvSpPr>
        <p:spPr>
          <a:xfrm>
            <a:off x="548640" y="3611880"/>
            <a:ext cx="566928" cy="566928"/>
          </a:xfrm>
          <a:prstGeom prst="ellipse">
            <a:avLst/>
          </a:prstGeom>
          <a:solidFill>
            <a:srgbClr val="DCEAFD"/>
          </a:solidFill>
          <a:ln w="12700">
            <a:solidFill>
              <a:srgbClr val="DCEAFD"/>
            </a:solidFill>
            <a:prstDash val="solid"/>
          </a:ln>
        </p:spPr>
      </p:sp>
      <p:pic>
        <p:nvPicPr>
          <p:cNvPr id="13" name="ikon-LuArrowRightLef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64" y="3736604"/>
            <a:ext cx="317480" cy="3174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35935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 dan bandingkan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1325880" y="39593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login, per tipe kamar, bisa dibagikan</a:t>
            </a:r>
            <a:endParaRPr lang="en-US" sz="1300" dirty="0"/>
          </a:p>
        </p:txBody>
      </p:sp>
      <p:sp>
        <p:nvSpPr>
          <p:cNvPr id="16" name="ikon-latar-LuMessageCircle"/>
          <p:cNvSpPr/>
          <p:nvPr/>
        </p:nvSpPr>
        <p:spPr>
          <a:xfrm>
            <a:off x="548640" y="4709160"/>
            <a:ext cx="566928" cy="566928"/>
          </a:xfrm>
          <a:prstGeom prst="ellipse">
            <a:avLst/>
          </a:prstGeom>
          <a:solidFill>
            <a:srgbClr val="DCEAFD"/>
          </a:solidFill>
          <a:ln w="12700">
            <a:solidFill>
              <a:srgbClr val="DCEAFD"/>
            </a:solidFill>
            <a:prstDash val="solid"/>
          </a:ln>
        </p:spPr>
      </p:sp>
      <p:pic>
        <p:nvPicPr>
          <p:cNvPr id="17" name="ikon-LuMessageCircl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64" y="4833884"/>
            <a:ext cx="317480" cy="3174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25880" y="46908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pemilik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1325880" y="50566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WhatsApp otomatis berisi kos, tipe kamar, dan total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8346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produk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91440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beranda sampai menghubungi pemilik dalam 4 langkah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pengguna: 4 langkah</a:t>
            </a:r>
            <a:endParaRPr lang="en-US" sz="3000" dirty="0"/>
          </a:p>
        </p:txBody>
      </p:sp>
      <p:sp>
        <p:nvSpPr>
          <p:cNvPr id="3" name="langkah-1"/>
          <p:cNvSpPr/>
          <p:nvPr/>
        </p:nvSpPr>
        <p:spPr>
          <a:xfrm>
            <a:off x="548640" y="1325880"/>
            <a:ext cx="2606040" cy="4892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4" name="nomor-1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54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kampus atau area, atur filter, urutkan Termurah</a:t>
            </a:r>
            <a:endParaRPr lang="en-US" sz="1200" dirty="0"/>
          </a:p>
        </p:txBody>
      </p:sp>
      <p:pic>
        <p:nvPicPr>
          <p:cNvPr id="8" name="tangkapan-langkah-1" descr="/Users/calvinn/KosBahagia/docs/tangkapan/audit/02-termurah-promosi-terpisa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834640"/>
            <a:ext cx="2240280" cy="3200400"/>
          </a:xfrm>
          <a:prstGeom prst="rect">
            <a:avLst/>
          </a:prstGeom>
        </p:spPr>
      </p:pic>
      <p:sp>
        <p:nvSpPr>
          <p:cNvPr id="9" name="langkah-2"/>
          <p:cNvSpPr/>
          <p:nvPr/>
        </p:nvSpPr>
        <p:spPr>
          <a:xfrm>
            <a:off x="3364992" y="1325880"/>
            <a:ext cx="2606040" cy="4892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10" name="nomor-2"/>
          <p:cNvSpPr/>
          <p:nvPr/>
        </p:nvSpPr>
        <p:spPr>
          <a:xfrm>
            <a:off x="3547872" y="1508760"/>
            <a:ext cx="457200" cy="45720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4787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142232" y="1554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Pahami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547872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Ringkasan, pilih tipe kamar, cek biaya dan status</a:t>
            </a:r>
            <a:endParaRPr lang="en-US" sz="1200" dirty="0"/>
          </a:p>
        </p:txBody>
      </p:sp>
      <p:pic>
        <p:nvPicPr>
          <p:cNvPr id="14" name="tangkapan-langkah-2" descr="/Users/calvinn/KosBahagia/docs/tangkapan/audit/05-ringkasan-kamar-penuh-mobi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47872" y="2834640"/>
            <a:ext cx="2240280" cy="3200400"/>
          </a:xfrm>
          <a:prstGeom prst="rect">
            <a:avLst/>
          </a:prstGeom>
        </p:spPr>
      </p:pic>
      <p:sp>
        <p:nvSpPr>
          <p:cNvPr id="15" name="langkah-3"/>
          <p:cNvSpPr/>
          <p:nvPr/>
        </p:nvSpPr>
        <p:spPr>
          <a:xfrm>
            <a:off x="6181344" y="1325880"/>
            <a:ext cx="2606040" cy="4892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16" name="nomor-3"/>
          <p:cNvSpPr/>
          <p:nvPr/>
        </p:nvSpPr>
        <p:spPr>
          <a:xfrm>
            <a:off x="6364224" y="1508760"/>
            <a:ext cx="457200" cy="45720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36422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6958584" y="1554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Bandingkan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364224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 3 pilihan, per tipe kamar</a:t>
            </a:r>
            <a:endParaRPr lang="en-US" sz="1200" dirty="0"/>
          </a:p>
        </p:txBody>
      </p:sp>
      <p:pic>
        <p:nvPicPr>
          <p:cNvPr id="20" name="tangkapan-langkah-3" descr="/Users/calvinn/KosBahagia/docs/tangkapan/audit/07-banding-ringkas-mobil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64224" y="2834640"/>
            <a:ext cx="2240280" cy="3200400"/>
          </a:xfrm>
          <a:prstGeom prst="rect">
            <a:avLst/>
          </a:prstGeom>
        </p:spPr>
      </p:pic>
      <p:sp>
        <p:nvSpPr>
          <p:cNvPr id="21" name="langkah-4"/>
          <p:cNvSpPr/>
          <p:nvPr/>
        </p:nvSpPr>
        <p:spPr>
          <a:xfrm>
            <a:off x="8997696" y="1325880"/>
            <a:ext cx="2606040" cy="4892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22" name="nomor-4"/>
          <p:cNvSpPr/>
          <p:nvPr/>
        </p:nvSpPr>
        <p:spPr>
          <a:xfrm>
            <a:off x="9180576" y="1508760"/>
            <a:ext cx="457200" cy="45720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18057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9774936" y="1554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Hubungi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9180576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pemilik dengan pesan siap kirim</a:t>
            </a:r>
            <a:endParaRPr lang="en-US" sz="1200" dirty="0"/>
          </a:p>
        </p:txBody>
      </p:sp>
      <p:pic>
        <p:nvPicPr>
          <p:cNvPr id="26" name="tangkapan-langkah-4" descr="/Users/calvinn/KosBahagia/docs/tangkapan/audit/09-kontak-mode-demo-mobil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80576" y="2834640"/>
            <a:ext cx="2240280" cy="3200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8346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testing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91440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Kuesioner Google Form, 63 responden, 4–5 Oktober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pengujian</a:t>
            </a:r>
            <a:endParaRPr lang="en-US" sz="3000" dirty="0"/>
          </a:p>
        </p:txBody>
      </p:sp>
      <p:sp>
        <p:nvSpPr>
          <p:cNvPr id="3" name="metode-0"/>
          <p:cNvSpPr/>
          <p:nvPr/>
        </p:nvSpPr>
        <p:spPr>
          <a:xfrm>
            <a:off x="548640" y="1417320"/>
            <a:ext cx="2286000" cy="2011680"/>
          </a:xfrm>
          <a:prstGeom prst="roundRect">
            <a:avLst>
              <a:gd name="adj" fmla="val 5455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4" name="stat-responden"/>
          <p:cNvSpPr txBox="1"/>
          <p:nvPr/>
        </p:nvSpPr>
        <p:spPr>
          <a:xfrm>
            <a:off x="822960" y="1691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2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</a:t>
            </a:r>
            <a:endParaRPr lang="en-US" sz="1300" dirty="0"/>
          </a:p>
        </p:txBody>
      </p:sp>
      <p:sp>
        <p:nvSpPr>
          <p:cNvPr id="6" name="metode-1"/>
          <p:cNvSpPr/>
          <p:nvPr/>
        </p:nvSpPr>
        <p:spPr>
          <a:xfrm>
            <a:off x="3063240" y="1417320"/>
            <a:ext cx="2286000" cy="2011680"/>
          </a:xfrm>
          <a:prstGeom prst="roundRect">
            <a:avLst>
              <a:gd name="adj" fmla="val 5455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7" name="stat-pernyataan L"/>
          <p:cNvSpPr txBox="1"/>
          <p:nvPr/>
        </p:nvSpPr>
        <p:spPr>
          <a:xfrm>
            <a:off x="3337560" y="1691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2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pernyataan Likert 1–5</a:t>
            </a:r>
            <a:endParaRPr lang="en-US" sz="1300" dirty="0"/>
          </a:p>
        </p:txBody>
      </p:sp>
      <p:sp>
        <p:nvSpPr>
          <p:cNvPr id="9" name="metode-2"/>
          <p:cNvSpPr/>
          <p:nvPr/>
        </p:nvSpPr>
        <p:spPr>
          <a:xfrm>
            <a:off x="548640" y="3657600"/>
            <a:ext cx="2286000" cy="2011680"/>
          </a:xfrm>
          <a:prstGeom prst="roundRect">
            <a:avLst>
              <a:gd name="adj" fmla="val 5455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10" name="stat-pertanyaan t"/>
          <p:cNvSpPr txBox="1"/>
          <p:nvPr/>
        </p:nvSpPr>
        <p:spPr>
          <a:xfrm>
            <a:off x="82296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2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754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terbuka</a:t>
            </a:r>
            <a:endParaRPr lang="en-US" sz="1300" dirty="0"/>
          </a:p>
        </p:txBody>
      </p:sp>
      <p:sp>
        <p:nvSpPr>
          <p:cNvPr id="12" name="metode-3"/>
          <p:cNvSpPr/>
          <p:nvPr/>
        </p:nvSpPr>
        <p:spPr>
          <a:xfrm>
            <a:off x="3063240" y="3657600"/>
            <a:ext cx="2286000" cy="2011680"/>
          </a:xfrm>
          <a:prstGeom prst="roundRect">
            <a:avLst>
              <a:gd name="adj" fmla="val 5455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13" name="stat-4–5 Oktober "/>
          <p:cNvSpPr txBox="1"/>
          <p:nvPr/>
        </p:nvSpPr>
        <p:spPr>
          <a:xfrm>
            <a:off x="333756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2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hari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4754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Oktober 2026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1417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pertanyaan wajib dari dosen</a:t>
            </a:r>
            <a:endParaRPr lang="en-US" sz="1600" dirty="0"/>
          </a:p>
        </p:txBody>
      </p:sp>
      <p:graphicFrame>
        <p:nvGraphicFramePr>
          <p:cNvPr id="8" name="tabel-waji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874520"/>
          <a:ext cx="5760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1188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6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kuesioner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6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Bentuk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6B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Pengalaman pengguna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ini mudah digunakan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Likert 1–5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Tindakan pengguna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 bagian yang bikin bingung?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Kegunaan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ini membantu kebutuhan saya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Likert 1–5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 yang perlu diperbaiki?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852160" y="48006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Analisis: rata-rata, median, persentase setuju (4–5) dan tidak setuju (1–2); jawaban terbuka dikelompokkan per tema.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Siapa respondennya?</a:t>
            </a:r>
            <a:endParaRPr lang="en-US" sz="3000" dirty="0"/>
          </a:p>
        </p:txBody>
      </p:sp>
      <p:sp>
        <p:nvSpPr>
          <p:cNvPr id="3" name="stat-berusia 18–2"/>
          <p:cNvSpPr txBox="1"/>
          <p:nvPr/>
        </p:nvSpPr>
        <p:spPr>
          <a:xfrm>
            <a:off x="548640" y="1371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2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berusia 18–24 tahun</a:t>
            </a:r>
            <a:endParaRPr lang="en-US" sz="1300" dirty="0"/>
          </a:p>
        </p:txBody>
      </p:sp>
      <p:sp>
        <p:nvSpPr>
          <p:cNvPr id="5" name="stat-mahasiswa (2"/>
          <p:cNvSpPr txBox="1"/>
          <p:nvPr/>
        </p:nvSpPr>
        <p:spPr>
          <a:xfrm>
            <a:off x="548640" y="2926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2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(24 pekerja, 4 wirausaha; boleh pilih lebih dari satu)</a:t>
            </a:r>
            <a:endParaRPr lang="en-US" sz="1300" dirty="0"/>
          </a:p>
        </p:txBody>
      </p:sp>
      <p:sp>
        <p:nvSpPr>
          <p:cNvPr id="7" name="stat-pernah atau "/>
          <p:cNvSpPr txBox="1"/>
          <p:nvPr/>
        </p:nvSpPr>
        <p:spPr>
          <a:xfrm>
            <a:off x="548640" y="4480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03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pernah atau sedang mencari kos</a:t>
            </a:r>
            <a:endParaRPr lang="en-US" sz="1300" dirty="0"/>
          </a:p>
        </p:txBody>
      </p:sp>
      <p:graphicFrame>
        <p:nvGraphicFramePr>
          <p:cNvPr id="9" name="chart-usia" descr=""/>
          <p:cNvGraphicFramePr/>
          <p:nvPr/>
        </p:nvGraphicFramePr>
        <p:xfrm>
          <a:off x="3749040" y="1325880"/>
          <a:ext cx="39319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-pengalaman" descr=""/>
          <p:cNvGraphicFramePr/>
          <p:nvPr/>
        </p:nvGraphicFramePr>
        <p:xfrm>
          <a:off x="7863840" y="1325880"/>
          <a:ext cx="3749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kuantitatif: separuh responden setuju</a:t>
            </a:r>
            <a:endParaRPr lang="en-US" sz="3000" dirty="0"/>
          </a:p>
        </p:txBody>
      </p:sp>
      <p:graphicFrame>
        <p:nvGraphicFramePr>
          <p:cNvPr id="3" name="chart-likert" descr=""/>
          <p:cNvGraphicFramePr/>
          <p:nvPr/>
        </p:nvGraphicFramePr>
        <p:xfrm>
          <a:off x="457200" y="128016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artu-wajib1"/>
          <p:cNvSpPr/>
          <p:nvPr/>
        </p:nvSpPr>
        <p:spPr>
          <a:xfrm>
            <a:off x="8458200" y="1371600"/>
            <a:ext cx="3154680" cy="1463040"/>
          </a:xfrm>
          <a:prstGeom prst="roundRect">
            <a:avLst>
              <a:gd name="adj" fmla="val 75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5" name="stat-Mudah diguna"/>
          <p:cNvSpPr txBox="1"/>
          <p:nvPr/>
        </p:nvSpPr>
        <p:spPr>
          <a:xfrm>
            <a:off x="868680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2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3,41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 digunakan: 54% setuju, 25% tidak</a:t>
            </a:r>
            <a:endParaRPr lang="en-US" sz="1300" dirty="0"/>
          </a:p>
        </p:txBody>
      </p:sp>
      <p:sp>
        <p:nvSpPr>
          <p:cNvPr id="7" name="kartu-wajib3"/>
          <p:cNvSpPr/>
          <p:nvPr/>
        </p:nvSpPr>
        <p:spPr>
          <a:xfrm>
            <a:off x="8458200" y="3017520"/>
            <a:ext cx="3154680" cy="1463040"/>
          </a:xfrm>
          <a:prstGeom prst="roundRect">
            <a:avLst>
              <a:gd name="adj" fmla="val 75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8" name="stat-Membantu keb"/>
          <p:cNvSpPr txBox="1"/>
          <p:nvPr/>
        </p:nvSpPr>
        <p:spPr>
          <a:xfrm>
            <a:off x="8686800" y="3017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2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3,49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3840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Membantu kebutuhan: 52% setuju, 24% tidak</a:t>
            </a:r>
            <a:endParaRPr lang="en-US" sz="1300" dirty="0"/>
          </a:p>
        </p:txBody>
      </p:sp>
      <p:sp>
        <p:nvSpPr>
          <p:cNvPr id="10" name="kartu-gabungan"/>
          <p:cNvSpPr/>
          <p:nvPr/>
        </p:nvSpPr>
        <p:spPr>
          <a:xfrm>
            <a:off x="8458200" y="4663440"/>
            <a:ext cx="3154680" cy="1463040"/>
          </a:xfrm>
          <a:prstGeom prst="roundRect">
            <a:avLst>
              <a:gd name="adj" fmla="val 75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11" name="stat-Rata-rata ga"/>
          <p:cNvSpPr txBox="1"/>
          <p:nvPr/>
        </p:nvSpPr>
        <p:spPr>
          <a:xfrm>
            <a:off x="8686800" y="4663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3,46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5486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gabungan 5 pernyataan (skala 1–5)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Mahasiswa menilai lebih tinggi daripada pekerja</a:t>
            </a:r>
            <a:endParaRPr lang="en-US" sz="3000" dirty="0"/>
          </a:p>
        </p:txBody>
      </p:sp>
      <p:graphicFrame>
        <p:nvGraphicFramePr>
          <p:cNvPr id="3" name="chart-kelompok" descr=""/>
          <p:cNvGraphicFramePr/>
          <p:nvPr/>
        </p:nvGraphicFramePr>
        <p:xfrm>
          <a:off x="457200" y="132588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artu-temuan-kelompok"/>
          <p:cNvSpPr/>
          <p:nvPr/>
        </p:nvSpPr>
        <p:spPr>
          <a:xfrm>
            <a:off x="7772400" y="1371600"/>
            <a:ext cx="3840480" cy="4663440"/>
          </a:xfrm>
          <a:prstGeom prst="roundRect">
            <a:avLst>
              <a:gd name="adj" fmla="val 2857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5" name="stat-rata-rata ma"/>
          <p:cNvSpPr txBox="1"/>
          <p:nvPr/>
        </p:nvSpPr>
        <p:spPr>
          <a:xfrm>
            <a:off x="8046720" y="15087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2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3,90 vs 2,91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331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mahasiswa vs responden yang bekerja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315468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bekerja paling banyak menanyakan dasar perhitungan skor dan biaya.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Mereka butuh alasan di balik angka sebelum percaya.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belum pernah cari kos (n=7) juga lebih rendah: belum punya pembanding.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yang membingungkan (pertanyaan wajib 2)</a:t>
            </a:r>
            <a:endParaRPr lang="en-US" sz="3000" dirty="0"/>
          </a:p>
        </p:txBody>
      </p:sp>
      <p:sp>
        <p:nvSpPr>
          <p:cNvPr id="3" name="stat-menyebut set"/>
          <p:cNvSpPr txBox="1"/>
          <p:nvPr/>
        </p:nvSpPr>
        <p:spPr>
          <a:xfrm>
            <a:off x="548640" y="1371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menyebut setidaknya satu hal yang bikin ragu atau bingung</a:t>
            </a:r>
            <a:endParaRPr lang="en-US" sz="1300" dirty="0"/>
          </a:p>
        </p:txBody>
      </p:sp>
      <p:sp>
        <p:nvSpPr>
          <p:cNvPr id="5" name="stat-tidak menemu"/>
          <p:cNvSpPr txBox="1"/>
          <p:nvPr/>
        </p:nvSpPr>
        <p:spPr>
          <a:xfrm>
            <a:off x="548640" y="3063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menemui kendala</a:t>
            </a:r>
            <a:endParaRPr lang="en-US" sz="1300" dirty="0"/>
          </a:p>
        </p:txBody>
      </p:sp>
      <p:sp>
        <p:nvSpPr>
          <p:cNvPr id="7" name="kartu-kutipan-bingung"/>
          <p:cNvSpPr/>
          <p:nvPr/>
        </p:nvSpPr>
        <p:spPr>
          <a:xfrm>
            <a:off x="548640" y="4434840"/>
            <a:ext cx="3017520" cy="1645920"/>
          </a:xfrm>
          <a:prstGeom prst="roundRect">
            <a:avLst>
              <a:gd name="adj" fmla="val 6667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4572000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“Ngga tau mana yang harus diklik buat masukin ke list buat dibandingin, ternyata pake button yang semacam panah.”</a:t>
            </a:r>
            <a:endParaRPr lang="en-US" sz="1200" dirty="0"/>
          </a:p>
        </p:txBody>
      </p:sp>
      <p:graphicFrame>
        <p:nvGraphicFramePr>
          <p:cNvPr id="9" name="chart-bingung" descr=""/>
          <p:cNvGraphicFramePr/>
          <p:nvPr/>
        </p:nvGraphicFramePr>
        <p:xfrm>
          <a:off x="3840480" y="1280160"/>
          <a:ext cx="786384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perlu diperbaiki vs yang paling disukai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Perlu diperbaiki (wajib 4)</a:t>
            </a:r>
            <a:endParaRPr lang="en-US" sz="1600" dirty="0"/>
          </a:p>
        </p:txBody>
      </p:sp>
      <p:graphicFrame>
        <p:nvGraphicFramePr>
          <p:cNvPr id="4" name="chart-perbaiki" descr=""/>
          <p:cNvGraphicFramePr/>
          <p:nvPr/>
        </p:nvGraphicFramePr>
        <p:xfrm>
          <a:off x="365760" y="1737360"/>
          <a:ext cx="56692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Paling disukai</a:t>
            </a:r>
            <a:endParaRPr lang="en-US" sz="1600" dirty="0"/>
          </a:p>
        </p:txBody>
      </p:sp>
      <p:graphicFrame>
        <p:nvGraphicFramePr>
          <p:cNvPr id="6" name="chart-suka" descr=""/>
          <p:cNvGraphicFramePr/>
          <p:nvPr/>
        </p:nvGraphicFramePr>
        <p:xfrm>
          <a:off x="6126480" y="1737360"/>
          <a:ext cx="56692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8346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Capture Grid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91440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Disukai, kritik, pertanyaan, dan ide dari pengguna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versi 1: hasil uji prototipe awal (audit)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pengujian versi 1 dengan skenario tugas (cari, detail, pilih kamar, banding, filter, keyboard)</a:t>
            </a:r>
            <a:endParaRPr lang="en-US" sz="1200" dirty="0"/>
          </a:p>
        </p:txBody>
      </p:sp>
      <p:sp>
        <p:nvSpPr>
          <p:cNvPr id="4" name="grid1-0"/>
          <p:cNvSpPr/>
          <p:nvPr/>
        </p:nvSpPr>
        <p:spPr>
          <a:xfrm>
            <a:off x="548640" y="146304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5" name="ikon-latar-LuThumbsUp"/>
          <p:cNvSpPr/>
          <p:nvPr/>
        </p:nvSpPr>
        <p:spPr>
          <a:xfrm>
            <a:off x="777240" y="166420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kon-LuThumbsU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774850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099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disukai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402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biaya per bulan sebagai angka utama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kebersihan dan kedap suara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surveyor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 saat hasil kosong; simpan dan banding tanpa login</a:t>
            </a:r>
            <a:endParaRPr lang="en-US" sz="1250" dirty="0"/>
          </a:p>
        </p:txBody>
      </p:sp>
      <p:sp>
        <p:nvSpPr>
          <p:cNvPr id="9" name="grid1-1"/>
          <p:cNvSpPr/>
          <p:nvPr/>
        </p:nvSpPr>
        <p:spPr>
          <a:xfrm>
            <a:off x="6172200" y="146304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CE6E6"/>
          </a:solidFill>
          <a:ln w="12700">
            <a:solidFill>
              <a:srgbClr val="FCE6E6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10" name="ikon-latar-LuThumbsDown"/>
          <p:cNvSpPr/>
          <p:nvPr/>
        </p:nvSpPr>
        <p:spPr>
          <a:xfrm>
            <a:off x="6400800" y="166420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kon-LuThumbsDow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442" y="177485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40880" y="17099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Kritik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2402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beranda tidak sama dengan halaman kos (8,1 vs 6,9)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Kamar AC penuh tampak tersedia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"Termurah" didahului kos berbayar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 kembali ke kamar standar</a:t>
            </a:r>
            <a:endParaRPr lang="en-US" sz="1250" dirty="0"/>
          </a:p>
        </p:txBody>
      </p:sp>
      <p:sp>
        <p:nvSpPr>
          <p:cNvPr id="14" name="grid1-2"/>
          <p:cNvSpPr/>
          <p:nvPr/>
        </p:nvSpPr>
        <p:spPr>
          <a:xfrm>
            <a:off x="548640" y="393192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DCEAFD"/>
          </a:solidFill>
          <a:ln w="12700">
            <a:solidFill>
              <a:srgbClr val="DCEAFD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15" name="ikon-latar-LuCircleHelp"/>
          <p:cNvSpPr/>
          <p:nvPr/>
        </p:nvSpPr>
        <p:spPr>
          <a:xfrm>
            <a:off x="777240" y="413308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kon-LuCircleHel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424373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41788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70916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 di beranda itu kos sungguhan?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"Mitra" artinya berbayar?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uang yang disiapkan saat masuk?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 campur berarti boleh bawa pasangan?</a:t>
            </a:r>
            <a:endParaRPr lang="en-US" sz="1250" dirty="0"/>
          </a:p>
        </p:txBody>
      </p:sp>
      <p:sp>
        <p:nvSpPr>
          <p:cNvPr id="19" name="grid1-3"/>
          <p:cNvSpPr/>
          <p:nvPr/>
        </p:nvSpPr>
        <p:spPr>
          <a:xfrm>
            <a:off x="6172200" y="393192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FF0E0"/>
          </a:solidFill>
          <a:ln w="12700">
            <a:solidFill>
              <a:srgbClr val="FFF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20" name="ikon-latar-LuLightbulb"/>
          <p:cNvSpPr/>
          <p:nvPr/>
        </p:nvSpPr>
        <p:spPr>
          <a:xfrm>
            <a:off x="6400800" y="413308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kon-LuLightbulb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442" y="4243730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40880" y="41788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446520" y="470916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keputusan di atas halaman kos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Hitungan uang masuk (bayar di muka + deposit)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Promosi berbayar dipisah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"Tanya kapan tersedia" saat penuh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versi 2: hasil kuesioner (63 responden)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Google Form setelah responden mencoba versi 2; angka dalam kurung = jumlah responden</a:t>
            </a:r>
            <a:endParaRPr lang="en-US" sz="1200" dirty="0"/>
          </a:p>
        </p:txBody>
      </p:sp>
      <p:sp>
        <p:nvSpPr>
          <p:cNvPr id="4" name="grid2-0"/>
          <p:cNvSpPr/>
          <p:nvPr/>
        </p:nvSpPr>
        <p:spPr>
          <a:xfrm>
            <a:off x="548640" y="146304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5" name="ikon-latar-LuThumbsUp"/>
          <p:cNvSpPr/>
          <p:nvPr/>
        </p:nvSpPr>
        <p:spPr>
          <a:xfrm>
            <a:off x="777240" y="166420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kon-LuThumbsU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774850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099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disukai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402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dan bandingkan (10)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 kos foto + ringkasan (8)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simpel dan rapi (8)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 lengkap (7); total biaya (6)</a:t>
            </a:r>
            <a:endParaRPr lang="en-US" sz="1250" dirty="0"/>
          </a:p>
        </p:txBody>
      </p:sp>
      <p:sp>
        <p:nvSpPr>
          <p:cNvPr id="9" name="grid2-1"/>
          <p:cNvSpPr/>
          <p:nvPr/>
        </p:nvSpPr>
        <p:spPr>
          <a:xfrm>
            <a:off x="6172200" y="146304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CE6E6"/>
          </a:solidFill>
          <a:ln w="12700">
            <a:solidFill>
              <a:srgbClr val="FCE6E6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10" name="ikon-latar-LuThumbsDown"/>
          <p:cNvSpPr/>
          <p:nvPr/>
        </p:nvSpPr>
        <p:spPr>
          <a:xfrm>
            <a:off x="6400800" y="166420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kon-LuThumbsDow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442" y="177485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40880" y="17099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Kritik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2402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menilai kecocokan dari info ringkas (7)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Rincian biaya dan fasilitas dibaca ulang (7)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filter; bug chip kamar mandi dalam (6)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Terlalu banyak tulisan di HP (5)</a:t>
            </a:r>
            <a:endParaRPr lang="en-US" sz="1250" dirty="0"/>
          </a:p>
        </p:txBody>
      </p:sp>
      <p:sp>
        <p:nvSpPr>
          <p:cNvPr id="14" name="grid2-2"/>
          <p:cNvSpPr/>
          <p:nvPr/>
        </p:nvSpPr>
        <p:spPr>
          <a:xfrm>
            <a:off x="548640" y="393192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DCEAFD"/>
          </a:solidFill>
          <a:ln w="12700">
            <a:solidFill>
              <a:srgbClr val="DCEAFD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15" name="ikon-latar-LuCircleHelp"/>
          <p:cNvSpPr/>
          <p:nvPr/>
        </p:nvSpPr>
        <p:spPr>
          <a:xfrm>
            <a:off x="777240" y="413308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kon-LuCircleHel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424373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41788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70916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kebersihan dinilai dengan cara apa?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total bulanan dari mana?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Fasilitas kamar vs fasilitas bersama?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 sudah tersimpan atau belum?</a:t>
            </a:r>
            <a:endParaRPr lang="en-US" sz="1250" dirty="0"/>
          </a:p>
        </p:txBody>
      </p:sp>
      <p:sp>
        <p:nvSpPr>
          <p:cNvPr id="19" name="grid2-3"/>
          <p:cNvSpPr/>
          <p:nvPr/>
        </p:nvSpPr>
        <p:spPr>
          <a:xfrm>
            <a:off x="6172200" y="393192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FF0E0"/>
          </a:solidFill>
          <a:ln w="12700">
            <a:solidFill>
              <a:srgbClr val="FFF0E0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20" name="ikon-latar-LuLightbulb"/>
          <p:cNvSpPr/>
          <p:nvPr/>
        </p:nvSpPr>
        <p:spPr>
          <a:xfrm>
            <a:off x="6400800" y="413308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kon-LuLightbulb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442" y="4243730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40880" y="41788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446520" y="470916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Penjelasan skor, biaya, jarak di tempatnya (9)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letak lebih lega (7)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teks "Simpan" / "Bandingkan" (7)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sekitar lebih rinci (5)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8346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Iterasi desain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91440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feedback ke perubahan nyata: versi 1 → versi 2 → rencana versi 3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Prioritas perbaikan versi 1 → versi 2</a:t>
            </a:r>
            <a:endParaRPr lang="en-US" sz="3000" dirty="0"/>
          </a:p>
        </p:txBody>
      </p:sp>
      <p:graphicFrame>
        <p:nvGraphicFramePr>
          <p:cNvPr id="18" name="tabel-priorit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502920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6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Masalah di versi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6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Perubahan di versi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6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Alasan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6B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tidak konsisten antar halaman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Semua halaman memakai satu sumber data; hero dari kos sungguhan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Merusak kepercayaan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Kamar penuh tampak tersedia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per tipe kamar + tombol "Tanya kapan tersedia"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Salah hubungi pemilik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Banding kehilangan tipe kamar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Banding per kos + tipe kamar, bertahan saat reload dan dibagikan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Perbandingan jadi salah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"Termurah" didahului kos berbayar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Urutan murni; promosi di blok terpisah berlabel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Terkesan menipu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Pengguna menghitung biaya sendiri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Jenis tiap biaya + "uang yang perlu disiapkan untuk masuk"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Biaya jadi jelas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Rentang harga terbalik = "0 kos"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Pesan error di bawah kolom, angka tetap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Membingungkan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Sebelum dan sesudah: beranda</a:t>
            </a:r>
            <a:endParaRPr lang="en-US" sz="3000" dirty="0"/>
          </a:p>
        </p:txBody>
      </p:sp>
      <p:sp>
        <p:nvSpPr>
          <p:cNvPr id="3" name="label-versi-1"/>
          <p:cNvSpPr/>
          <p:nvPr/>
        </p:nvSpPr>
        <p:spPr>
          <a:xfrm>
            <a:off x="548640" y="1325880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3258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 contoh dengan angka statis yang tidak cocok dengan listing</a:t>
            </a:r>
            <a:endParaRPr lang="en-US" sz="1300" dirty="0"/>
          </a:p>
        </p:txBody>
      </p:sp>
      <p:pic>
        <p:nvPicPr>
          <p:cNvPr id="6" name="tangkapan-versi-1" descr="/Users/calvinn/KosBahagia/docs/tangkapan/berand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057400"/>
            <a:ext cx="5440680" cy="36576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256B8">
                <a:alpha val="15000"/>
              </a:srgbClr>
            </a:outerShdw>
          </a:effectLst>
        </p:spPr>
      </p:pic>
      <p:sp>
        <p:nvSpPr>
          <p:cNvPr id="7" name="label-versi-2"/>
          <p:cNvSpPr/>
          <p:nvPr/>
        </p:nvSpPr>
        <p:spPr>
          <a:xfrm>
            <a:off x="6172200" y="1325880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72200" y="13258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13258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 diambil dari kos sungguhan, berlabel "Contoh tampilan dari data demo"</a:t>
            </a:r>
            <a:endParaRPr lang="en-US" sz="1300" dirty="0"/>
          </a:p>
        </p:txBody>
      </p:sp>
      <p:pic>
        <p:nvPicPr>
          <p:cNvPr id="10" name="tangkapan-versi-2" descr="/Users/calvinn/KosBahagia/docs/tangkapan/audit/01-hero-data-asl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2057400"/>
            <a:ext cx="5440680" cy="36576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256B8">
                <a:alpha val="1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 2: fitur baru dari feedback</a:t>
            </a:r>
            <a:endParaRPr lang="en-US" sz="3000" dirty="0"/>
          </a:p>
        </p:txBody>
      </p:sp>
      <p:pic>
        <p:nvPicPr>
          <p:cNvPr id="3" name="tangkapan-fitur-1" descr="/Users/calvinn/KosBahagia/docs/tangkapan/audit/05-ringkasan-kamar-penuh-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1783080" cy="38404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256B8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2514600" y="14173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+ status per tipe kamar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2514600" y="2514600"/>
            <a:ext cx="1554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Kamar AC penuh tertulis Penuh; tombol jadi "Tanya kapan tersedia"</a:t>
            </a:r>
            <a:endParaRPr lang="en-US" sz="1300" dirty="0"/>
          </a:p>
        </p:txBody>
      </p:sp>
      <p:pic>
        <p:nvPicPr>
          <p:cNvPr id="6" name="tangkapan-fitur-2" descr="/Users/calvinn/KosBahagia/docs/tangkapan/audit/06-uang-masuk-mobi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7680" y="1325880"/>
            <a:ext cx="1783080" cy="38404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256B8">
                <a:alpha val="18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6263640" y="14173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Uang yang perlu disiapkan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263640" y="2514600"/>
            <a:ext cx="1554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Bayar di muka + deposit, masing-masing dihitung sekali</a:t>
            </a:r>
            <a:endParaRPr lang="en-US" sz="1300" dirty="0"/>
          </a:p>
        </p:txBody>
      </p:sp>
      <p:pic>
        <p:nvPicPr>
          <p:cNvPr id="9" name="tangkapan-fitur-3" descr="/Users/calvinn/KosBahagia/docs/tangkapan/audit/08-validasi-harga-mobil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1325880"/>
            <a:ext cx="1783080" cy="38404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256B8">
                <a:alpha val="18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10012680" y="14173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filter harga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0012680" y="2514600"/>
            <a:ext cx="1554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&gt; maksimal dijelaskan, bukan "0 kos"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Juga: urutan Termurah murni + blok "Promosi berbayar", banding per tipe kamar, label ilustrasi dan data contoh, fokus keyboard kembali ke tombol pembuka.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Bukti: versi 2 lebih baik</a:t>
            </a:r>
            <a:endParaRPr lang="en-US" sz="3000" dirty="0"/>
          </a:p>
        </p:txBody>
      </p:sp>
      <p:sp>
        <p:nvSpPr>
          <p:cNvPr id="3" name="bukti-0"/>
          <p:cNvSpPr/>
          <p:nvPr/>
        </p:nvSpPr>
        <p:spPr>
          <a:xfrm>
            <a:off x="548640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4" name="ikon-latar-LuListChecks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kon-LuListCheck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12341"/>
            <a:ext cx="307238" cy="307238"/>
          </a:xfrm>
          <a:prstGeom prst="rect">
            <a:avLst/>
          </a:prstGeom>
        </p:spPr>
      </p:pic>
      <p:sp>
        <p:nvSpPr>
          <p:cNvPr id="6" name="stat-skenario uji"/>
          <p:cNvSpPr txBox="1"/>
          <p:nvPr/>
        </p:nvSpPr>
        <p:spPr>
          <a:xfrm>
            <a:off x="82296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18/18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uji browser lulus di situs live</a:t>
            </a:r>
            <a:endParaRPr lang="en-US" sz="1300" dirty="0"/>
          </a:p>
        </p:txBody>
      </p:sp>
      <p:sp>
        <p:nvSpPr>
          <p:cNvPr id="8" name="bukti-1"/>
          <p:cNvSpPr/>
          <p:nvPr/>
        </p:nvSpPr>
        <p:spPr>
          <a:xfrm>
            <a:off x="3364992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9" name="ikon-latar-LuGauge"/>
          <p:cNvSpPr/>
          <p:nvPr/>
        </p:nvSpPr>
        <p:spPr>
          <a:xfrm>
            <a:off x="3639312" y="16916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kon-LuGaug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013" y="1812341"/>
            <a:ext cx="307238" cy="307238"/>
          </a:xfrm>
          <a:prstGeom prst="rect">
            <a:avLst/>
          </a:prstGeom>
        </p:spPr>
      </p:pic>
      <p:sp>
        <p:nvSpPr>
          <p:cNvPr id="11" name="stat-skor perform"/>
          <p:cNvSpPr txBox="1"/>
          <p:nvPr/>
        </p:nvSpPr>
        <p:spPr>
          <a:xfrm>
            <a:off x="3639312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2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→ 95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3639312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performa Lighthouse halaman detail</a:t>
            </a:r>
            <a:endParaRPr lang="en-US" sz="1300" dirty="0"/>
          </a:p>
        </p:txBody>
      </p:sp>
      <p:sp>
        <p:nvSpPr>
          <p:cNvPr id="13" name="bukti-2"/>
          <p:cNvSpPr/>
          <p:nvPr/>
        </p:nvSpPr>
        <p:spPr>
          <a:xfrm>
            <a:off x="6181344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14" name="ikon-latar-LuTimer"/>
          <p:cNvSpPr/>
          <p:nvPr/>
        </p:nvSpPr>
        <p:spPr>
          <a:xfrm>
            <a:off x="6455664" y="16916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kon-LuTim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365" y="1812341"/>
            <a:ext cx="307238" cy="307238"/>
          </a:xfrm>
          <a:prstGeom prst="rect">
            <a:avLst/>
          </a:prstGeom>
        </p:spPr>
      </p:pic>
      <p:sp>
        <p:nvSpPr>
          <p:cNvPr id="16" name="stat-waktu tampil"/>
          <p:cNvSpPr txBox="1"/>
          <p:nvPr/>
        </p:nvSpPr>
        <p:spPr>
          <a:xfrm>
            <a:off x="6455664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2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3,78 → 2,91 s</a:t>
            </a:r>
            <a:endParaRPr lang="en-US" sz="2600" dirty="0"/>
          </a:p>
        </p:txBody>
      </p:sp>
      <p:sp>
        <p:nvSpPr>
          <p:cNvPr id="17" name="Text 12"/>
          <p:cNvSpPr txBox="1"/>
          <p:nvPr/>
        </p:nvSpPr>
        <p:spPr>
          <a:xfrm>
            <a:off x="6455664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tampil gambar utama (LCP) detail</a:t>
            </a:r>
            <a:endParaRPr lang="en-US" sz="1300" dirty="0"/>
          </a:p>
        </p:txBody>
      </p:sp>
      <p:sp>
        <p:nvSpPr>
          <p:cNvPr id="18" name="bukti-3"/>
          <p:cNvSpPr/>
          <p:nvPr/>
        </p:nvSpPr>
        <p:spPr>
          <a:xfrm>
            <a:off x="8997696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19" name="ikon-latar-LuAccessibility"/>
          <p:cNvSpPr/>
          <p:nvPr/>
        </p:nvSpPr>
        <p:spPr>
          <a:xfrm>
            <a:off x="9272016" y="16916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kon-LuAccessibility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717" y="1812341"/>
            <a:ext cx="307238" cy="307238"/>
          </a:xfrm>
          <a:prstGeom prst="rect">
            <a:avLst/>
          </a:prstGeom>
        </p:spPr>
      </p:pic>
      <p:sp>
        <p:nvSpPr>
          <p:cNvPr id="21" name="stat-pelanggaran "/>
          <p:cNvSpPr txBox="1"/>
          <p:nvPr/>
        </p:nvSpPr>
        <p:spPr>
          <a:xfrm>
            <a:off x="9272016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22" name="Text 16"/>
          <p:cNvSpPr txBox="1"/>
          <p:nvPr/>
        </p:nvSpPr>
        <p:spPr>
          <a:xfrm>
            <a:off x="9272016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pelanggaran aksesibilitas (axe)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otomatis: 78 unit test, 109 tes database, 18 pemeriksaan browser. Lighthouse diukur di lab (simulasi HP), bukan data pengguna nyata.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versi 3 (dari hasil kuesioner)</a:t>
            </a:r>
            <a:endParaRPr lang="en-US" sz="3000" dirty="0"/>
          </a:p>
        </p:txBody>
      </p:sp>
      <p:sp>
        <p:nvSpPr>
          <p:cNvPr id="3" name="rencana-0"/>
          <p:cNvSpPr/>
          <p:nvPr/>
        </p:nvSpPr>
        <p:spPr>
          <a:xfrm>
            <a:off x="548640" y="13716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4" name="rencana-nomor-0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002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teks "Simpan" / "Bandingkan" + tautan di header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286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jawaban</a:t>
            </a:r>
            <a:endParaRPr lang="en-US" sz="1200" dirty="0"/>
          </a:p>
        </p:txBody>
      </p:sp>
      <p:sp>
        <p:nvSpPr>
          <p:cNvPr id="8" name="rencana-1"/>
          <p:cNvSpPr/>
          <p:nvPr/>
        </p:nvSpPr>
        <p:spPr>
          <a:xfrm>
            <a:off x="6172200" y="13716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9" name="rencana-nomor-1"/>
          <p:cNvSpPr/>
          <p:nvPr/>
        </p:nvSpPr>
        <p:spPr>
          <a:xfrm>
            <a:off x="6400800" y="1737360"/>
            <a:ext cx="640080" cy="64008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6002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 singkat di samping skor, biaya, dan jarak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286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jawaban</a:t>
            </a:r>
            <a:endParaRPr lang="en-US" sz="1200" dirty="0"/>
          </a:p>
        </p:txBody>
      </p:sp>
      <p:sp>
        <p:nvSpPr>
          <p:cNvPr id="13" name="rencana-2"/>
          <p:cNvSpPr/>
          <p:nvPr/>
        </p:nvSpPr>
        <p:spPr>
          <a:xfrm>
            <a:off x="548640" y="29718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14" name="rencana-nomor-2"/>
          <p:cNvSpPr/>
          <p:nvPr/>
        </p:nvSpPr>
        <p:spPr>
          <a:xfrm>
            <a:off x="777240" y="3337560"/>
            <a:ext cx="640080" cy="640080"/>
          </a:xfrm>
          <a:prstGeom prst="ellipse">
            <a:avLst/>
          </a:prstGeom>
          <a:solidFill>
            <a:srgbClr val="DCEAFD"/>
          </a:solidFill>
          <a:ln w="12700">
            <a:solidFill>
              <a:srgbClr val="DCEAF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200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Tampilan lebih lega: harga, lokasi, status dulu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886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jawaban</a:t>
            </a:r>
            <a:endParaRPr lang="en-US" sz="1200" dirty="0"/>
          </a:p>
        </p:txBody>
      </p:sp>
      <p:sp>
        <p:nvSpPr>
          <p:cNvPr id="18" name="rencana-3"/>
          <p:cNvSpPr/>
          <p:nvPr/>
        </p:nvSpPr>
        <p:spPr>
          <a:xfrm>
            <a:off x="6172200" y="29718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19" name="rencana-nomor-3"/>
          <p:cNvSpPr/>
          <p:nvPr/>
        </p:nvSpPr>
        <p:spPr>
          <a:xfrm>
            <a:off x="6400800" y="3337560"/>
            <a:ext cx="640080" cy="640080"/>
          </a:xfrm>
          <a:prstGeom prst="ellipse">
            <a:avLst/>
          </a:prstGeom>
          <a:solidFill>
            <a:srgbClr val="DCEAFD"/>
          </a:solidFill>
          <a:ln w="12700">
            <a:solidFill>
              <a:srgbClr val="DCEAF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3200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Perbaiki filter: chip kamar mandi dalam, tipe kos multi-pilih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886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+ 11 jawaban</a:t>
            </a:r>
            <a:endParaRPr lang="en-US" sz="1200" dirty="0"/>
          </a:p>
        </p:txBody>
      </p:sp>
      <p:sp>
        <p:nvSpPr>
          <p:cNvPr id="23" name="rencana-4"/>
          <p:cNvSpPr/>
          <p:nvPr/>
        </p:nvSpPr>
        <p:spPr>
          <a:xfrm>
            <a:off x="548640" y="45720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24" name="rencana-nomor-4"/>
          <p:cNvSpPr/>
          <p:nvPr/>
        </p:nvSpPr>
        <p:spPr>
          <a:xfrm>
            <a:off x="777240" y="4937760"/>
            <a:ext cx="640080" cy="640080"/>
          </a:xfrm>
          <a:prstGeom prst="ellipse">
            <a:avLst/>
          </a:prstGeom>
          <a:solidFill>
            <a:srgbClr val="DCEAFD"/>
          </a:solidFill>
          <a:ln w="12700">
            <a:solidFill>
              <a:srgbClr val="DCEAF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48006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singkat untuk pengguna baru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5486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jawaban</a:t>
            </a:r>
            <a:endParaRPr lang="en-US" sz="1200" dirty="0"/>
          </a:p>
        </p:txBody>
      </p:sp>
      <p:sp>
        <p:nvSpPr>
          <p:cNvPr id="28" name="rencana-5"/>
          <p:cNvSpPr/>
          <p:nvPr/>
        </p:nvSpPr>
        <p:spPr>
          <a:xfrm>
            <a:off x="6172200" y="45720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56B8">
                <a:alpha val="12000"/>
              </a:srgbClr>
            </a:outerShdw>
          </a:effectLst>
        </p:spPr>
      </p:sp>
      <p:sp>
        <p:nvSpPr>
          <p:cNvPr id="29" name="rencana-nomor-5"/>
          <p:cNvSpPr/>
          <p:nvPr/>
        </p:nvSpPr>
        <p:spPr>
          <a:xfrm>
            <a:off x="6400800" y="4937760"/>
            <a:ext cx="640080" cy="640080"/>
          </a:xfrm>
          <a:prstGeom prst="ellipse">
            <a:avLst/>
          </a:prstGeom>
          <a:solidFill>
            <a:srgbClr val="DCEAFD"/>
          </a:solidFill>
          <a:ln w="12700">
            <a:solidFill>
              <a:srgbClr val="DCEAF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48006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sekitar lebih rinci + menu navigasi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5486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jawaban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4000" dirty="0"/>
          </a:p>
        </p:txBody>
      </p:sp>
      <p:sp>
        <p:nvSpPr>
          <p:cNvPr id="3" name="ikon-latar-LuTarget"/>
          <p:cNvSpPr/>
          <p:nvPr/>
        </p:nvSpPr>
        <p:spPr>
          <a:xfrm>
            <a:off x="731520" y="1828800"/>
            <a:ext cx="731520" cy="731520"/>
          </a:xfrm>
          <a:prstGeom prst="ellipse">
            <a:avLst/>
          </a:prstGeom>
          <a:solidFill>
            <a:srgbClr val="1256B8"/>
          </a:solidFill>
          <a:ln w="12700">
            <a:solidFill>
              <a:srgbClr val="1256B8"/>
            </a:solidFill>
            <a:prstDash val="solid"/>
          </a:ln>
        </p:spPr>
      </p:sp>
      <p:pic>
        <p:nvPicPr>
          <p:cNvPr id="4" name="ikon-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989734"/>
            <a:ext cx="409651" cy="4096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diterima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46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menyukai total biaya, simpan dan banding, serta informasi yang lengkap.</a:t>
            </a:r>
            <a:endParaRPr lang="en-US" sz="1500" dirty="0"/>
          </a:p>
        </p:txBody>
      </p:sp>
      <p:sp>
        <p:nvSpPr>
          <p:cNvPr id="7" name="ikon-latar-LuTriangleAlert"/>
          <p:cNvSpPr/>
          <p:nvPr/>
        </p:nvSpPr>
        <p:spPr>
          <a:xfrm>
            <a:off x="4389120" y="1828800"/>
            <a:ext cx="731520" cy="731520"/>
          </a:xfrm>
          <a:prstGeom prst="ellipse">
            <a:avLst/>
          </a:prstGeom>
          <a:solidFill>
            <a:srgbClr val="1256B8"/>
          </a:solidFill>
          <a:ln w="12700">
            <a:solidFill>
              <a:srgbClr val="1256B8"/>
            </a:solidFill>
            <a:prstDash val="solid"/>
          </a:ln>
        </p:spPr>
      </p:sp>
      <p:pic>
        <p:nvPicPr>
          <p:cNvPr id="8" name="ikon-LuTriangleAler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054" y="1989734"/>
            <a:ext cx="409651" cy="40965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8912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Kejelasan masih kurang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389120" y="3246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Skor, estimasi biaya, dan jarak perlu dijelaskan di tempatnya; tampilan perlu lebih lega.</a:t>
            </a:r>
            <a:endParaRPr lang="en-US" sz="1500" dirty="0"/>
          </a:p>
        </p:txBody>
      </p:sp>
      <p:sp>
        <p:nvSpPr>
          <p:cNvPr id="11" name="ikon-latar-LuRocket"/>
          <p:cNvSpPr/>
          <p:nvPr/>
        </p:nvSpPr>
        <p:spPr>
          <a:xfrm>
            <a:off x="8046720" y="1828800"/>
            <a:ext cx="731520" cy="731520"/>
          </a:xfrm>
          <a:prstGeom prst="ellipse">
            <a:avLst/>
          </a:prstGeom>
          <a:solidFill>
            <a:srgbClr val="1256B8"/>
          </a:solidFill>
          <a:ln w="12700">
            <a:solidFill>
              <a:srgbClr val="1256B8"/>
            </a:solidFill>
            <a:prstDash val="solid"/>
          </a:ln>
        </p:spPr>
      </p:sp>
      <p:pic>
        <p:nvPicPr>
          <p:cNvPr id="12" name="ikon-LuRocke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654" y="1989734"/>
            <a:ext cx="409651" cy="40965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4672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Iterasi berlanjut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8046720" y="3246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2 sudah memperbaiki kepercayaan data; versi 3 fokus pada kejelasan.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5120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3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kos-bahagia-umber.vercel.app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s Bahagia">
  <a:themeElements>
    <a:clrScheme name="Kos Bahagia">
      <a:dk1>
        <a:srgbClr val="16202E"/>
      </a:dk1>
      <a:lt1>
        <a:srgbClr val="FFFFFF"/>
      </a:lt1>
      <a:dk2>
        <a:srgbClr val="1256B8"/>
      </a:dk2>
      <a:lt2>
        <a:srgbClr val="F2F6FC"/>
      </a:lt2>
      <a:accent1>
        <a:srgbClr val="1D6FE0"/>
      </a:accent1>
      <a:accent2>
        <a:srgbClr val="FF7A1A"/>
      </a:accent2>
      <a:accent3>
        <a:srgbClr val="0E9F6E"/>
      </a:accent3>
      <a:accent4>
        <a:srgbClr val="B91C1C"/>
      </a:accent4>
      <a:accent5>
        <a:srgbClr val="8DB7F0"/>
      </a:accent5>
      <a:accent6>
        <a:srgbClr val="5A6B80"/>
      </a:accent6>
      <a:hlink>
        <a:srgbClr val="1D6FE0"/>
      </a:hlink>
      <a:folHlink>
        <a:srgbClr val="1256B8"/>
      </a:folHlink>
    </a:clrScheme>
    <a:fontScheme name="Kos Bahagi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Kos Bahagia: Prototype Testing dan Iterasi Desain</dc:title>
  <dc:subject>PptxGenJS Presentation</dc:subject>
  <dc:creator>Tim Kos Bahagia</dc:creator>
  <cp:lastModifiedBy>Tim Kos Bahagia</cp:lastModifiedBy>
  <cp:revision>1</cp:revision>
  <dcterms:created xsi:type="dcterms:W3CDTF">2026-10-05T04:56:39Z</dcterms:created>
  <dcterms:modified xsi:type="dcterms:W3CDTF">2026-10-05T04:56:39Z</dcterms:modified>
</cp:coreProperties>
</file>